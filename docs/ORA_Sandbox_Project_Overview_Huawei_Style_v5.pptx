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今天介绍的是 ORA Cloud 与 Agent Substrate 之间的独立沙盒项目。它不是简单的容器启动脚本，而是一层明确的运行边界：上层 Cloud 负责计划和持久化业务意图，沙盒服务负责把这些意图转换成 Actor、DATA Tag 与 Workspace 操作；Controller 再通过受控 WebSocket 与沙盒内的 Ora Node 通信。</a:t>
            </a:r>
          </a:p>
          <a:p/>
          <a:p>
            <a:r>
              <a:t>这份材料重点回答四个问题：为什么需要这层适配；生命周期和数据恢复怎样保证幂等；Controller 的 WebSocket 请求如何安全地路由进沙盒；以及当前 POC 已经验证了什么、距离生产化还差什么。</a:t>
            </a:r>
          </a:p>
          <a:p/>
          <a:p>
            <a:r>
              <a:t>参考资料：</a:t>
            </a:r>
          </a:p>
          <a:p>
            <a:r>
              <a:t>https://github.com/ora-space/sandbox</a:t>
            </a:r>
          </a:p>
          <a:p>
            <a:r>
              <a:t>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这一页要先讲清楚责任边界。Cloud 和 Controller 负责业务状态，也就是任务是否已经计划、是否等待审批、成果是否保存，以及何时可以释放资源。沙盒服务只承接基础设施生命周期，但它必须把这个过程做成可恢复的 effect，不能把一次 HTTP 超时直接解释成失败。</a:t>
            </a:r>
          </a:p>
          <a:p/>
          <a:p>
            <a:r>
              <a:t>Agent Substrate 提供 Actor 和快照等底层能力，Ora Node 运行在 Actor 内。Node 处理应用协议与 worktree 操作，router 不解析业务帧。这样划分以后，即使浏览器断开、Controller 短暂重连或服务进程重启，也不会自动销毁一个仍有业务价值的沙盒。</a:t>
            </a:r>
          </a:p>
          <a:p/>
          <a:p>
            <a:r>
              <a:t>参考资料：</a:t>
            </a:r>
          </a:p>
          <a:p>
            <a:r>
              <a:t>README.md</a:t>
            </a:r>
          </a:p>
          <a:p>
            <a:r>
              <a:t>docs/requirements-response.md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项目经历了两轮需求收敛。第一轮更关注能力清单，例如创建沙盒、长连接、就绪查询、销毁和持久存储。第二轮把这些能力转换成 Controller 真正可以依赖的接口契约，尤其补齐了超时、重试、未知结果和服务重启后的恢复语义。</a:t>
            </a:r>
          </a:p>
          <a:p/>
          <a:p>
            <a:r>
              <a:t>最重要的变化是三个方面。第一，所有生命周期操作由 Cloud 预分配 effectId，服务不能自行生成另一个身份。第二，suspend 不作为业务接口暴露，只允许 terminate 内部用它生成一致的数据快照。第三，路由只传输 Ora 帧，任务、审批、clone 和成果保存仍由 Controller 与 Node 协议负责。</a:t>
            </a:r>
          </a:p>
          <a:p/>
          <a:p>
            <a:r>
              <a:t>参考资料：</a:t>
            </a:r>
          </a:p>
          <a:p>
            <a:r>
              <a:t>docs/requirements-response.md</a:t>
            </a:r>
          </a:p>
          <a:p>
            <a:r>
              <a:t>docs/effects-api.md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架构从左到右分为四段。Controller 先调用 18002 的 Effects API 完成生命周期，再连接 18001 的受控 router。router 根据 Ate-Target-Actor 头找到目标 Actor，但在接受 Controller 的 WebSocket Upgrade 之前，会先确认 Actor 存在、状态可路由，并建立到 Node 的上游连接。</a:t>
            </a:r>
          </a:p>
          <a:p/>
          <a:p>
            <a:r>
              <a:t>18000 是 Agent Substrate 的内部 atenet ingress，Actor 内的 Ora Node 监听 80 端口。这两个端口不应直接暴露给 Controller。下方是持久数据面：Workspace 文件和 Node execution ledger 位于 durableDir；terminate 时生成 DATA Tag，下一代 Actor 恢复文件数据，但不会恢复旧进程内存和旧 WebSocket。</a:t>
            </a:r>
          </a:p>
          <a:p/>
          <a:p>
            <a:r>
              <a:t>参考资料：</a:t>
            </a:r>
          </a:p>
          <a:p>
            <a:r>
              <a:t>README.md</a:t>
            </a:r>
          </a:p>
          <a:p>
            <a:r>
              <a:t>docs/configuration.md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生命周期最关键的是顺序，而不是某个单独 API。ensure 第一次收到请求时，必须先把 running intent 写入 journal，再创建 Actor。这样即使调用 Substrate 后响应丢失，服务重启也知道曾经受理过，可以根据稳定的 Actor 名称进行对账。</a:t>
            </a:r>
          </a:p>
          <a:p/>
          <a:p>
            <a:r>
              <a:t>terminate 的顺序更严格：先写 tombstone，让旧 sandbox 立即不能再次路由；然后 suspend 取得一致的数据状态，创建并等待 DATA Tag，删除 Actor，最后发布当前 Tag 并标记 effect 成功。如果任一步无法确认，effect 保持失败或运行中，Cloud 不能安全地分配下一代。这个顺序解决了迟到 ensure、双写 Workspace 和未知结果问题。</a:t>
            </a:r>
          </a:p>
          <a:p/>
          <a:p>
            <a:r>
              <a:t>参考资料：</a:t>
            </a:r>
          </a:p>
          <a:p>
            <a:r>
              <a:t>docs/effects-api.md</a:t>
            </a:r>
          </a:p>
          <a:p>
            <a:r>
              <a:t>service/effects.go</a:t>
            </a:r>
          </a:p>
          <a:p>
            <a:r>
              <a:t>service/journal.go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路由的价值不只是端口转发。它先用 journal 判断请求是否指向当前活动 sandbox，再向 Substrate 查询 Actor 状态。只有上游 Node 能连通以后，才接受 Controller 的 Upgrade，因此大多数发现和连接错误可以保留为 HTTP 状态，而不是建立 WebSocket 后才模糊失败。</a:t>
            </a:r>
          </a:p>
          <a:p/>
          <a:p>
            <a:r>
              <a:t>应用层采用 binary message。帧内包含长度、类型和 JSON envelope，但 router 不解析这些业务内容。Node 首帧必须完成 hello，controller_id 需要与配置一致。Node 还持久化执行账本，连接恢复后 Controller 可查询状态，未确认事件可重放并通过 event_ack 收敛。当前账本覆盖 worktree 操作，完整 Agent 协议仍需继续扩展。</a:t>
            </a:r>
          </a:p>
          <a:p/>
          <a:p>
            <a:r>
              <a:t>参考资料：</a:t>
            </a:r>
          </a:p>
          <a:p>
            <a:r>
              <a:t>docs/effects-api.md</a:t>
            </a:r>
          </a:p>
          <a:p>
            <a:r>
              <a:t>service/router.go</a:t>
            </a:r>
          </a:p>
          <a:p>
            <a:r>
              <a:t>runtime/ora_protocol.go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这里要区分三类状态。第一类是用户真正关心的 Workspace 数据，它位于 durableDir，并通过 DATA snapshot 和 Tag 跨代恢复。第二类是 Node 的协议账本，用来保存稳定身份和已完成但可能尚未确认的执行结果。第三类是生命周期 journal，用来回答一个 effect 是否被受理、是否完成，以及 Workspace 当前绑定哪个 sandbox。</a:t>
            </a:r>
          </a:p>
          <a:p/>
          <a:p>
            <a:r>
              <a:t>journal 的写入采用临时文件、文件 fsync、原子 rename 和目录 fsync，目的是避免进程崩溃后出现半份 JSON。这个方案适合单机 POC，但不适合多副本。生产环境需要事务数据库、Workspace 级锁和 fencing，确保两个服务实例不会同时推进同一个生命周期。</a:t>
            </a:r>
          </a:p>
          <a:p/>
          <a:p>
            <a:r>
              <a:t>参考资料：</a:t>
            </a:r>
          </a:p>
          <a:p>
            <a:r>
              <a:t>docs/effects-api.md</a:t>
            </a:r>
          </a:p>
          <a:p>
            <a:r>
              <a:t>service/journal.go</a:t>
            </a:r>
          </a:p>
          <a:p>
            <a:r>
              <a:t>runtime/ora_protocol.go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部署从代码验证开始。仓库已经提供 Makefile，包含 test、race、vet、build 和 image。唯一的 Go 第三方依赖已经 vendored，因此镜像的 Go 编译阶段不需要访问 proxy.golang.org，这对当前网络环境和离线交付都很重要。</a:t>
            </a:r>
          </a:p>
          <a:p/>
          <a:p>
            <a:r>
              <a:t>runtime 镜像推送后，应把不可变 digest 写入 ActorTemplate。模板同时定义 Worker selector、snapshot storage、gVisor class、CPU 和内存。控制侧服务通过 systemd 运行，journal 目录需要预先创建。最后配置 Controller 的四个一致值，并检查端口边界。README 和 deployment 文档已经给出完整命令，可以直接作为交付手册。</a:t>
            </a:r>
          </a:p>
          <a:p/>
          <a:p>
            <a:r>
              <a:t>参考资料：</a:t>
            </a:r>
          </a:p>
          <a:p>
            <a:r>
              <a:t>README.md</a:t>
            </a:r>
          </a:p>
          <a:p>
            <a:r>
              <a:t>docs/deployment.md</a:t>
            </a:r>
          </a:p>
          <a:p>
            <a:r>
              <a:t>docs/configuration.md</a:t>
            </a:r>
          </a:p>
          <a:p>
            <a:r>
              <a:t>runtime/Containerfile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这一页给出可量化的结果。当前仓库有四十七个文件、六千七百三十二行；排除文档、许可证和第三方 vendor 后，自研代码与部署配置是一千九百八十三行，其中去掉空行和纯注释后的有效代码是一千八百四十五行。</a:t>
            </a:r>
          </a:p>
          <a:p/>
          <a:p>
            <a:r>
              <a:t>更重要的是运行证据。我们验证了 effect 幂等冲突、未知查询、Workspace 跨代恢复、Node 身份变化、tombstone 路由拒绝、活动 Workspace 删除保护和服务重启后的历史查询。工程侧还执行了 race、vet、构建、JSON 和链接检查，并实际启动最终 runtime 镜像验证 readyz。这里的结论是 POC 主路径完整，不代表生产安全和高可用已经完成。</a:t>
            </a:r>
          </a:p>
          <a:p/>
          <a:p>
            <a:r>
              <a:t>参考资料：</a:t>
            </a:r>
          </a:p>
          <a:p>
            <a:r>
              <a:t>docs/verification.md</a:t>
            </a:r>
          </a:p>
          <a:p>
            <a:r>
              <a:t>当前 main 提交 cdc099c 的代码量统计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演讲词：</a:t>
            </a:r>
          </a:p>
          <a:p>
            <a:r>
              <a:t>最后给出建议路线。第一阶段不是继续扩大功能，而是冻结现有最小契约，补容量基线、故障注入和恢复演练，确保团队对 404、503、running 和 failed 的语义理解一致。</a:t>
            </a:r>
          </a:p>
          <a:p/>
          <a:p>
            <a:r>
              <a:t>第二阶段优先做安全，尤其是 Controller 到服务入口的身份和 Project、Workspace 授权。第三阶段再做高可用，将 kubectl-ate 子进程替换为 ate-api client，并把单机 journal 迁移到事务存储。第四阶段补齐完整 Agent 任务、审批和成果协议，同时治理 WebSocket 连接。建议把 ora-space/sandbox 作为唯一代码与文档基线，避免再次散落在 Cloud 仓库和服务器临时目录中。</a:t>
            </a:r>
          </a:p>
          <a:p/>
          <a:p>
            <a:r>
              <a:t>参考资料：</a:t>
            </a:r>
          </a:p>
          <a:p>
            <a:r>
              <a:t>docs/deployment.md</a:t>
            </a:r>
          </a:p>
          <a:p>
            <a:r>
              <a:t>docs/configuration.md</a:t>
            </a:r>
          </a:p>
          <a:p>
            <a:r>
              <a:t>docs/requirements-response.md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34272" y="0"/>
            <a:ext cx="3154680" cy="6858000"/>
          </a:xfrm>
          <a:prstGeom prst="rect">
            <a:avLst/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34272" y="0"/>
            <a:ext cx="3154680" cy="987552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034272" y="5303520"/>
            <a:ext cx="3154680" cy="1554480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" y="658368"/>
            <a:ext cx="20116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</a:rPr>
              <a:t>ORA ·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7699248" cy="1371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52525"/>
                </a:solidFill>
                <a:latin typeface="Microsoft YaHei"/>
              </a:rPr>
              <a:t>Agent Substrate
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726948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666666"/>
                </a:solidFill>
                <a:latin typeface="Microsoft YaHei"/>
              </a:rPr>
              <a:t>可恢复、可寻址、可审计的云端智能体运行边界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895344"/>
            <a:ext cx="7196328" cy="0"/>
          </a:xfrm>
          <a:prstGeom prst="line">
            <a:avLst/>
          </a:prstGeom>
          <a:ln w="2794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4178808"/>
            <a:ext cx="7635240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252525"/>
                </a:solidFill>
                <a:latin typeface="Microsoft YaHei"/>
              </a:rPr>
              <a:t>Effects 生命周期管理  /  受控 WebSocket 路由
Workspace DATA 快照  /  Ora Node v1  /  gVisor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925312"/>
            <a:ext cx="57607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github.com/ora-space/sandbox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89888"/>
            <a:ext cx="19659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项目介绍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1975104"/>
            <a:ext cx="2194560" cy="10607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52525"/>
                </a:solidFill>
                <a:latin typeface="Microsoft YaHei"/>
              </a:rPr>
              <a:t>架构 · 能力
部署 · 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5779008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项目定位与责任边界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把业务意图、平台生命周期和沙盒内执行拆成清晰的三层责任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</a:rPr>
              <a:t>为什么需要独立适配层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66294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52525"/>
                </a:solidFill>
                <a:latin typeface="Microsoft YaHei"/>
              </a:rPr>
              <a:t>Cloud 需要的是可重试、可恢复的业务语义；Agent Substrate 提供的是 Actor、Tag、路由与快照能力。本项目把两者对齐：effectId 贯穿幂等、Actor 身份与路由寻址，Workspace 数据则跨 Actor 代次保留。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3401568" cy="23317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154680"/>
            <a:ext cx="82296" cy="233172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55848"/>
            <a:ext cx="29626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2525"/>
                </a:solidFill>
                <a:latin typeface="Microsoft YaHei"/>
              </a:rPr>
              <a:t>ORA Cloud / 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813048"/>
            <a:ext cx="2962656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计划并持久化 effect；决定任务、审批、成果保存与释放时机；使用同一 effectId 查询或重试；校验 Node 握手、心跳和执行结果。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42232" y="3154680"/>
            <a:ext cx="3401568" cy="233172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42232" y="3154680"/>
            <a:ext cx="82296" cy="233172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8264" y="3355848"/>
            <a:ext cx="29626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2525"/>
                </a:solidFill>
                <a:latin typeface="Microsoft YaHei"/>
              </a:rPr>
              <a:t>Sandbox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3813048"/>
            <a:ext cx="2962656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提供 Effects API；维护 journal、Workspace 占用和 tombstone；调用 Substrate 创建、暂停、打 Tag 与删除 Actor；控制 WebSocket 路由。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35824" y="1444752"/>
            <a:ext cx="3886200" cy="4041648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35824" y="1444752"/>
            <a:ext cx="82296" cy="4041648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1645920"/>
            <a:ext cx="344728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Agent Substrate / Ora Node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1856" y="2103120"/>
            <a:ext cx="3447288" cy="3218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E8E8E8"/>
                </a:solidFill>
                <a:latin typeface="Microsoft YaHei"/>
              </a:rPr>
              <a:t>Substrate 负责 gVisor Actor、atenet、快照和调度；Ora Node 负责握手、worktree 执行、持久 execution ledger 与未确认结果重放。
当前 POC 已覆盖三种生命周期 effect 和 worktree_execution；完整 Agent 执行、审批及 bundle 上传仍属于 Controller–Node 后续协议。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742432"/>
            <a:ext cx="11064240" cy="512064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852160"/>
            <a:ext cx="106070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核心原则：浏览器断开 ≠ 任务结束；Controller 断线 ≠ 销毁沙盒；确认成果已保存后才进入 terminate。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两轮需求如何收敛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从“平台需要哪些能力”收敛为“Controller 可依赖的最小契约”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1560" y="2057400"/>
            <a:ext cx="10012680" cy="0"/>
          </a:xfrm>
          <a:prstGeom prst="line">
            <a:avLst/>
          </a:prstGeom>
          <a:ln w="254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2103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892807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31536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892807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58984" y="1828800"/>
            <a:ext cx="438912" cy="438912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13848" y="1892807"/>
            <a:ext cx="32918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1389888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52525"/>
                </a:solidFill>
                <a:latin typeface="Microsoft YaHei"/>
              </a:rPr>
              <a:t>第一轮：平台能力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1389888"/>
            <a:ext cx="32004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52525"/>
                </a:solidFill>
                <a:latin typeface="Microsoft YaHei"/>
              </a:rPr>
              <a:t>第二轮：Effects 契约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3184" y="1389888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52525"/>
                </a:solidFill>
                <a:latin typeface="Microsoft YaHei"/>
              </a:rPr>
              <a:t>当前实现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468880"/>
            <a:ext cx="3383280" cy="318211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2468880"/>
            <a:ext cx="82296" cy="3182112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670048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2525"/>
                </a:solidFill>
                <a:latin typeface="Microsoft YaHei"/>
              </a:rPr>
              <a:t>提出目标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27248"/>
            <a:ext cx="2944368" cy="2359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666666"/>
                </a:solidFill>
                <a:latin typeface="Microsoft YaHei"/>
              </a:rPr>
              <a:t>按指定镜像创建沙盒；按 sandbox ID 建立双向长连接；提供就绪、状态和可重试销毁；保持任务、审批与成果保存期间运行；交互式 Workspace 持久化。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07408" y="2468880"/>
            <a:ext cx="3383280" cy="318211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7408" y="2468880"/>
            <a:ext cx="82296" cy="3182112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670048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2525"/>
                </a:solidFill>
                <a:latin typeface="Microsoft YaHei"/>
              </a:rPr>
              <a:t>明确语义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127248"/>
            <a:ext cx="2944368" cy="2359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666666"/>
                </a:solidFill>
                <a:latin typeface="Microsoft YaHei"/>
              </a:rPr>
              <a:t>Cloud 预分配 effectId；GET 只查询，PUT 首次持久化后执行；同 ID 同请求可重试；terminate 先 tombstone；404 与 503 明确区分；首版不暴露 suspend/resume。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7888" y="2468880"/>
            <a:ext cx="3383280" cy="3182112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47888" y="2468880"/>
            <a:ext cx="82296" cy="3182112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2670048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形成边界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19" y="3127248"/>
            <a:ext cx="2944368" cy="2359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60" b="0">
                <a:solidFill>
                  <a:srgbClr val="E8E8E8"/>
                </a:solidFill>
                <a:latin typeface="Microsoft YaHei"/>
              </a:rPr>
              <a:t>三种 effect、受控 router、Ora Node v1、DATA Tag 跨代恢复和原子 journal 已落地。认证授权、高可用存储、连接配额与完整 Agent 协议明确列入生产化路线。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07024"/>
            <a:ext cx="108813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收敛结果：平台接口足够小、失败语义可解释、恢复路径可验证，业务协议与基础设施协议不再混在一起。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总体架构与网络边界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控制面完成 effect 与寻址，运行面在 gVisor Actor 内执行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47088"/>
            <a:ext cx="214884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2148840" cy="91440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1819656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252525"/>
                </a:solidFill>
                <a:latin typeface="Microsoft YaHei"/>
              </a:rPr>
              <a:t>Ora Cloud / Controller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819656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666666"/>
                </a:solidFill>
                <a:latin typeface="Microsoft YaHei"/>
              </a:rPr>
              <a:t>计划 effect
HTTP + WebSocket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847088"/>
            <a:ext cx="2267712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847088"/>
            <a:ext cx="2267712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2103120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C7000B"/>
                </a:solidFill>
                <a:latin typeface="Microsoft YaHei"/>
              </a:rPr>
              <a:t>sandbox-service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2" y="2651760"/>
            <a:ext cx="19385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666666"/>
                </a:solidFill>
                <a:latin typeface="Microsoft YaHei"/>
              </a:rPr>
              <a:t>18002 Effects
18001 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61888" y="1847088"/>
            <a:ext cx="2267712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61888" y="1847088"/>
            <a:ext cx="2267712" cy="91440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2103120"/>
            <a:ext cx="19385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252525"/>
                </a:solidFill>
                <a:latin typeface="Microsoft YaHei"/>
              </a:rPr>
              <a:t>Agent Substrate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9" y="2651760"/>
            <a:ext cx="1938528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666666"/>
                </a:solidFill>
                <a:latin typeface="Microsoft YaHei"/>
              </a:rPr>
              <a:t>kubectl-ate / ate-api
18000 atenet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1847088"/>
            <a:ext cx="2487168" cy="16276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23376" y="1847088"/>
            <a:ext cx="2487168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7967" y="2103120"/>
            <a:ext cx="2157984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30" b="1">
                <a:solidFill>
                  <a:srgbClr val="252525"/>
                </a:solidFill>
                <a:latin typeface="Microsoft YaHei"/>
              </a:rPr>
              <a:t>gVisor 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2651760"/>
            <a:ext cx="2157984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666666"/>
                </a:solidFill>
                <a:latin typeface="Microsoft YaHei"/>
              </a:rPr>
              <a:t>Ora Node :80
readyz / process / WS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15768" y="2651760"/>
            <a:ext cx="484632" cy="0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19172" y="1572768"/>
            <a:ext cx="8778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HTTP / WS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68112" y="2651760"/>
            <a:ext cx="493776" cy="0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76088" y="1572768"/>
            <a:ext cx="8778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平台操作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0" y="2651760"/>
            <a:ext cx="493776" cy="0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37575" y="1572768"/>
            <a:ext cx="87782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内部路由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950208"/>
            <a:ext cx="10643616" cy="15087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187952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</a:rPr>
              <a:t>持久数据面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59152" y="411480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52525"/>
                </a:solidFill>
                <a:latin typeface="Microsoft YaHei"/>
              </a:rPr>
              <a:t>/workspace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9152" y="4553712"/>
            <a:ext cx="303580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666666"/>
                </a:solidFill>
                <a:latin typeface="Microsoft YaHei"/>
              </a:rPr>
              <a:t>durableDir 保存仓库、worktree
与 Node execution ledger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87568" y="4187952"/>
            <a:ext cx="0" cy="1024128"/>
          </a:xfrm>
          <a:prstGeom prst="line">
            <a:avLst/>
          </a:prstGeom>
          <a:ln w="1651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053328" y="4114800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52525"/>
                </a:solidFill>
                <a:latin typeface="Microsoft YaHei"/>
              </a:rPr>
              <a:t>DATA Tag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4553712"/>
            <a:ext cx="4535424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666666"/>
                </a:solidFill>
                <a:latin typeface="Microsoft YaHei"/>
              </a:rPr>
              <a:t>terminate 时生成 DATA snapshot；
下一代 Actor 从当前 Tag 恢复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05856"/>
            <a:ext cx="10643616" cy="475488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815584"/>
            <a:ext cx="1016812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Controller 仅访问 18001 / 18002；18000 与 Actor :80 保持内部可达。生产跨主机入口使用 HTTPS / WSS。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生命周期：幂等、终止与恢复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effectId = 幂等键 = sandboxInstanceId = Actor name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39572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2395728" cy="91440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39696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176272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52525"/>
                </a:solidFill>
                <a:latin typeface="Microsoft YaHei"/>
              </a:rPr>
              <a:t>Ensure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2688336"/>
            <a:ext cx="2029968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2907792"/>
            <a:ext cx="2029968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666666"/>
                </a:solidFill>
                <a:latin typeface="Microsoft YaHei"/>
              </a:rPr>
              <a:t>先把 intent 原子写为 running，再创建或找回 Actor，并等待 /readyz。成功返回稳定 nodeId。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62656" y="3108960"/>
            <a:ext cx="393192" cy="0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55848" y="1865376"/>
            <a:ext cx="239572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55848" y="1865376"/>
            <a:ext cx="2395728" cy="91440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139696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176272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52525"/>
                </a:solidFill>
                <a:latin typeface="Microsoft YaHei"/>
              </a:rPr>
              <a:t>Run &amp; Route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20440" y="2688336"/>
            <a:ext cx="2029968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20440" y="2907792"/>
            <a:ext cx="2029968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666666"/>
                </a:solidFill>
                <a:latin typeface="Microsoft YaHei"/>
              </a:rPr>
              <a:t>Controller 通过 Ate-Target-Actor 寻址；Node 完成 v1 hello 后进入应用协议。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51576" y="3108960"/>
            <a:ext cx="393192" cy="0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44768" y="1865376"/>
            <a:ext cx="239572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1865376"/>
            <a:ext cx="2395728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139696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176272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52525"/>
                </a:solidFill>
                <a:latin typeface="Microsoft YaHei"/>
              </a:rPr>
              <a:t>Terminate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309359" y="2688336"/>
            <a:ext cx="2029968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09359" y="2907792"/>
            <a:ext cx="2029968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666666"/>
                </a:solidFill>
                <a:latin typeface="Microsoft YaHei"/>
              </a:rPr>
              <a:t>先写 tombstone，立即拒绝旧路由；随后 suspend、创建 DATA Tag、删除 Actor。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540496" y="3108960"/>
            <a:ext cx="393192" cy="0"/>
          </a:xfrm>
          <a:prstGeom prst="line">
            <a:avLst/>
          </a:prstGeom>
          <a:ln w="2286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933687" y="1865376"/>
            <a:ext cx="2395728" cy="2542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33687" y="1865376"/>
            <a:ext cx="2395728" cy="91440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79" y="2139696"/>
            <a:ext cx="4572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19" y="2176272"/>
            <a:ext cx="14447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>
                <a:solidFill>
                  <a:srgbClr val="252525"/>
                </a:solidFill>
                <a:latin typeface="Microsoft YaHei"/>
              </a:rPr>
              <a:t>Next Actor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98279" y="2688336"/>
            <a:ext cx="2029968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98279" y="2907792"/>
            <a:ext cx="2029968" cy="1280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666666"/>
                </a:solidFill>
                <a:latin typeface="Microsoft YaHei"/>
              </a:rPr>
              <a:t>新 ensure 从当前 Tag 创建；/workspace 恢复，nodeId 不变，incarnation_id 更新。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736592"/>
            <a:ext cx="10762488" cy="117043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956048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</a:rPr>
              <a:t>五个不变量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84831" y="4855464"/>
            <a:ext cx="8979408" cy="859536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>
                <a:solidFill>
                  <a:srgbClr val="252525"/>
                </a:solidFill>
                <a:latin typeface="Microsoft YaHei"/>
              </a:rPr>
              <a:t>• 同 ID 同请求可重试，不同请求返回 409；succeeded 不重复副作用。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>
                <a:solidFill>
                  <a:srgbClr val="252525"/>
                </a:solidFill>
                <a:latin typeface="Microsoft YaHei"/>
              </a:rPr>
              <a:t>• 同一 Workspace 最多一个未终止 sandbox；终止无法确认时不分配下一代。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50">
                <a:solidFill>
                  <a:srgbClr val="252525"/>
                </a:solidFill>
                <a:latin typeface="Microsoft YaHei"/>
              </a:rPr>
              <a:t>• GET 不创建资源；404 只表示服务能确认从未收到，暂时不可达使用 503。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WebSocket 路由与 Ora Node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路由只做受控寻址和字节转发，业务语义留给 Controller 与 Node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383280" cy="431596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82296" cy="4315968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82496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2525"/>
                </a:solidFill>
                <a:latin typeface="Microsoft YaHei"/>
              </a:rPr>
              <a:t>连接建立前校验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39696"/>
            <a:ext cx="2944368" cy="3493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666666"/>
                </a:solidFill>
                <a:latin typeface="Microsoft YaHei"/>
              </a:rPr>
              <a:t>1. 必须是 WebSocket Upgrade。
2. Ate-Target-Actor 格式为 atespace/sandboxId。
3. effect 必须是当前活动 ensure。
4. tombstone 不得存在。
5. Actor 必须存在且为 RUNNING。
6. 先连接上游 Node，再接受下游 Upgrade。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481328"/>
            <a:ext cx="3383280" cy="431596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33087" y="1481328"/>
            <a:ext cx="82296" cy="4315968"/>
          </a:xfrm>
          <a:prstGeom prst="rect">
            <a:avLst/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682496"/>
            <a:ext cx="294436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52525"/>
                </a:solidFill>
                <a:latin typeface="Microsoft YaHei"/>
              </a:rPr>
              <a:t>协议与身份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9696"/>
            <a:ext cx="2944368" cy="3493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40" b="0">
                <a:solidFill>
                  <a:srgbClr val="666666"/>
                </a:solidFill>
                <a:latin typeface="Microsoft YaHei"/>
              </a:rPr>
              <a:t>每条 Ora 帧对应一条 binary WebSocket message，最大 16 MiB。
第一帧必须是协议 v1 hello；controller_id 与服务配置一致。router 注入稳定 nodeId、sandboxInstanceId 与 controller ID。Node 返回 hello_accepted、node_id、incarnation_id 和 capability。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1481328"/>
            <a:ext cx="3547872" cy="4315968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9248" y="1481328"/>
            <a:ext cx="82296" cy="4315968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682496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失败语义与重放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139696"/>
            <a:ext cx="3108960" cy="34930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E8E8E8"/>
                </a:solidFill>
                <a:latin typeface="Microsoft YaHei"/>
              </a:rPr>
              <a:t>400：寻址格式错误
404：sandbox 确认不存在
503：存在但暂时不可路由
502 / 504：发现或连接 Node 失败
426：未发起 Upgrade
Node 持久化 execution ledger，支持 get_execution_status、未确认结果重放和 event_ack。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98464"/>
            <a:ext cx="105156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C7000B"/>
                </a:solidFill>
                <a:latin typeface="Microsoft YaHei"/>
              </a:rPr>
              <a:t>双向连接分别处理 ping / pong、背压与 close；正常关闭传播 code/reason，异常断开通知另一侧。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数据持久化、恢复与审计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文件数据、Node 身份与生命周期 journal 分层保存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444752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</a:rPr>
              <a:t>三类持久状态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47088"/>
            <a:ext cx="6876288" cy="969264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91440" cy="969264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252525"/>
                </a:solidFill>
                <a:latin typeface="Microsoft YaHei"/>
              </a:rPr>
              <a:t>Workspace 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011680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/workspace durableDir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1984248"/>
            <a:ext cx="24871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Microsoft YaHei"/>
              </a:rPr>
              <a:t>仓库、worktree、成果文件；通过 DATA Tag 跨 Actor 代次恢复。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54096"/>
            <a:ext cx="6876288" cy="969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054096"/>
            <a:ext cx="91440" cy="969264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18688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252525"/>
                </a:solidFill>
                <a:latin typeface="Microsoft YaHei"/>
              </a:rPr>
              <a:t>Node 持久账本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3218688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/workspace/.ora-node/state.json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191256"/>
            <a:ext cx="24871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Microsoft YaHei"/>
              </a:rPr>
              <a:t>稳定 node_id、执行记录、sequence 与 ack 状态；incarnation_id 不持久化。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61104"/>
            <a:ext cx="6876288" cy="969264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261104"/>
            <a:ext cx="91440" cy="969264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425696"/>
            <a:ext cx="1627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>
                <a:solidFill>
                  <a:srgbClr val="252525"/>
                </a:solidFill>
                <a:latin typeface="Microsoft YaHei"/>
              </a:rPr>
              <a:t>生命周期 Journal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05456" y="4425696"/>
            <a:ext cx="21396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service/state/journal.json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398264"/>
            <a:ext cx="2487168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666666"/>
                </a:solidFill>
                <a:latin typeface="Microsoft YaHei"/>
              </a:rPr>
              <a:t>effect 请求、state、result/error、active sandbox、Tag 与 tombstone。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54112" y="1444752"/>
            <a:ext cx="3858768" cy="4498848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54112" y="1444752"/>
            <a:ext cx="82296" cy="4498848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0144" y="1645920"/>
            <a:ext cx="34198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原子 journal 写入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0144" y="2103120"/>
            <a:ext cx="3419856" cy="367588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E8E8E8"/>
                </a:solidFill>
                <a:latin typeface="Microsoft YaHei"/>
              </a:rPr>
              <a:t>temp file
→ file fsync
→ atomic rename
→ directory fsync
GET 可对已有 running effect 做只读对账，但不能发起新动作。failed effect 可用同 ID 同请求重试；succeeded effect 固定返回原结果。
当前实现是单机 POC。多副本必须迁移到事务数据库，并按 Workspace 增加分布式锁与 fencing。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623560"/>
            <a:ext cx="6876288" cy="475488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733288"/>
            <a:ext cx="64373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80" b="1">
                <a:solidFill>
                  <a:srgbClr val="FFFFFF"/>
                </a:solidFill>
                <a:latin typeface="Microsoft YaHei"/>
              </a:rPr>
              <a:t>恢复数据，不恢复旧进程：Node identity 稳定，incarnation 明确变化。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部署与镜像打包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代码、runtime 镜像、ActorTemplate、systemd 与 Controller 配置形成闭环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72768"/>
            <a:ext cx="195681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572768"/>
            <a:ext cx="1956816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81051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792224"/>
            <a:ext cx="122529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252525"/>
                </a:solidFill>
                <a:latin typeface="Microsoft YaHei"/>
              </a:rPr>
              <a:t>验证代码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" y="2267712"/>
            <a:ext cx="164592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4944" y="2468880"/>
            <a:ext cx="1664208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666666"/>
                </a:solidFill>
                <a:latin typeface="Microsoft YaHei"/>
              </a:rPr>
              <a:t>make test
make test-race
make vet
make build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05456" y="2560320"/>
            <a:ext cx="310896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16352" y="1572768"/>
            <a:ext cx="1956816" cy="20116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16352" y="1572768"/>
            <a:ext cx="1956816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181051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1792224"/>
            <a:ext cx="122529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252525"/>
                </a:solidFill>
                <a:latin typeface="Microsoft YaHei"/>
              </a:rPr>
              <a:t>构建镜像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62656" y="2267712"/>
            <a:ext cx="164592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62656" y="2468880"/>
            <a:ext cx="1664208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666666"/>
                </a:solidFill>
                <a:latin typeface="Microsoft YaHei"/>
              </a:rPr>
              <a:t>make image
推送 registry
记录 immutable digest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73168" y="2560320"/>
            <a:ext cx="310896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84064" y="1572768"/>
            <a:ext cx="195681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84064" y="1572768"/>
            <a:ext cx="1956816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181051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50992" y="1792224"/>
            <a:ext cx="122529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252525"/>
                </a:solidFill>
                <a:latin typeface="Microsoft YaHei"/>
              </a:rPr>
              <a:t>创建模板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30368" y="2267712"/>
            <a:ext cx="164592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0368" y="2468880"/>
            <a:ext cx="1664208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666666"/>
                </a:solidFill>
                <a:latin typeface="Microsoft YaHei"/>
              </a:rPr>
              <a:t>配置 atespace、Worker、
snapshot、gVisor、资源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40879" y="2560320"/>
            <a:ext cx="310896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51775" y="1572768"/>
            <a:ext cx="1956816" cy="20116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51775" y="1572768"/>
            <a:ext cx="1956816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79" y="181051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3" y="1792224"/>
            <a:ext cx="122529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252525"/>
                </a:solidFill>
                <a:latin typeface="Microsoft YaHei"/>
              </a:rPr>
              <a:t>安装服务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79" y="2267712"/>
            <a:ext cx="1645921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498079" y="2468880"/>
            <a:ext cx="1664208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666666"/>
                </a:solidFill>
                <a:latin typeface="Microsoft YaHei"/>
              </a:rPr>
              <a:t>安装二进制与 unit
创建 journal 目录
systemctl enable --now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08592" y="2560320"/>
            <a:ext cx="310896" cy="0"/>
          </a:xfrm>
          <a:prstGeom prst="line">
            <a:avLst/>
          </a:prstGeom>
          <a:ln w="19050">
            <a:solidFill>
              <a:srgbClr val="C700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619488" y="1572768"/>
            <a:ext cx="195681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619488" y="1572768"/>
            <a:ext cx="1956816" cy="9144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65792" y="1810512"/>
            <a:ext cx="3840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86415" y="1792224"/>
            <a:ext cx="1225296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20" b="1">
                <a:solidFill>
                  <a:srgbClr val="252525"/>
                </a:solidFill>
                <a:latin typeface="Microsoft YaHei"/>
              </a:rPr>
              <a:t>配置 Controller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765792" y="2267712"/>
            <a:ext cx="164592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765792" y="2468880"/>
            <a:ext cx="1664208" cy="8595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666666"/>
                </a:solidFill>
                <a:latin typeface="Microsoft YaHei"/>
              </a:rPr>
              <a:t>effects_url / router_url
atespace / controller_id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931920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</a:rPr>
              <a:t>部署一致性检查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315968"/>
            <a:ext cx="6876288" cy="157276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517136"/>
            <a:ext cx="6364224" cy="11887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30">
                <a:solidFill>
                  <a:srgbClr val="252525"/>
                </a:solidFill>
                <a:latin typeface="Microsoft YaHei"/>
              </a:rPr>
              <a:t>• service、Controller、ActorTemplate 的 atespace 和 template name 必须一致。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30">
                <a:solidFill>
                  <a:srgbClr val="252525"/>
                </a:solidFill>
                <a:latin typeface="Microsoft YaHei"/>
              </a:rPr>
              <a:t>• controller_id 必须与 Node hello 一致；跨主机使用认证后的 HTTPS / WSS。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30">
                <a:solidFill>
                  <a:srgbClr val="252525"/>
                </a:solidFill>
                <a:latin typeface="Microsoft YaHei"/>
              </a:rPr>
              <a:t>• 只暴露 18001 / 18002；internal router 18000 和 Actor :80 不对外。</a:t>
            </a:r>
          </a:p>
          <a:p>
            <a:pPr>
              <a:lnSpc>
                <a:spcPct val="108000"/>
              </a:lnSpc>
              <a:spcAft>
                <a:spcPts val="200"/>
              </a:spcAft>
            </a:pPr>
            <a:r>
              <a:rPr sz="1130">
                <a:solidFill>
                  <a:srgbClr val="252525"/>
                </a:solidFill>
                <a:latin typeface="Microsoft YaHei"/>
              </a:rPr>
              <a:t>• 示例资源为 1 CPU、768 MiB、gVisor、/workspace durableDir。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54112" y="3931920"/>
            <a:ext cx="3858768" cy="1956816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54112" y="3931920"/>
            <a:ext cx="82296" cy="1956816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4133087"/>
            <a:ext cx="341985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可重复打包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4" y="4590288"/>
            <a:ext cx="3419856" cy="11338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0">
                <a:solidFill>
                  <a:srgbClr val="E8E8E8"/>
                </a:solidFill>
                <a:latin typeface="Microsoft YaHei"/>
              </a:rPr>
              <a:t>Go 依赖随 vendor/ 提交，镜像编译阶段不依赖模块代理。runtime 使用多阶段构建；最终镜像包含 Python 3.12、Git、CA 与 SSH client，可通过 docker save 导出离线包。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验证结果与项目规模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真实 POC 验证、自动化检查与代码量统计相互印证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26464"/>
            <a:ext cx="2432304" cy="107899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093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C7000B"/>
                </a:solidFill>
                <a:latin typeface="Microsoft YaHei"/>
              </a:rPr>
              <a:t>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57400"/>
            <a:ext cx="21396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666666"/>
                </a:solidFill>
                <a:latin typeface="Microsoft YaHei"/>
              </a:rPr>
              <a:t>提交文件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6" y="1426464"/>
            <a:ext cx="2432304" cy="107899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093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C7000B"/>
                </a:solidFill>
                <a:latin typeface="Microsoft YaHei"/>
              </a:rPr>
              <a:t>6,732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57400"/>
            <a:ext cx="21396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666666"/>
                </a:solidFill>
                <a:latin typeface="Microsoft YaHei"/>
              </a:rPr>
              <a:t>仓库总行数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426464"/>
            <a:ext cx="2432304" cy="107899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6093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C7000B"/>
                </a:solidFill>
                <a:latin typeface="Microsoft YaHei"/>
              </a:rPr>
              <a:t>1,983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2057400"/>
            <a:ext cx="21396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666666"/>
                </a:solidFill>
                <a:latin typeface="Microsoft YaHei"/>
              </a:rPr>
              <a:t>自研代码与配置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51392" y="1426464"/>
            <a:ext cx="2432304" cy="1078992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696" y="1609344"/>
            <a:ext cx="2139696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1,845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696" y="2057400"/>
            <a:ext cx="213969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</a:rPr>
              <a:t>有效代码行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834640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</a:rPr>
              <a:t>真实 Actor 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218688"/>
            <a:ext cx="5413248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ensure 返回 sandboxInstanceId=effectId 与稳定 nodeId。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同 ID 不同 payload 返回 409；未知 effect GET 返回 404。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首代写入 /workspace，terminate 后二代从 DATA Tag 恢复。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nodeId 跨代不变，incarnation_id 随进程变化。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tombstone 后旧 router 目标不可访问。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834640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</a:rPr>
              <a:t>工程验证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3218688"/>
            <a:ext cx="5120640" cy="23774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go test ./... 与 go test -race ./... 全部通过。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go vet 与三个二进制构建通过。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ActorTemplate JSON、Markdown 链接与敏感信息检查通过。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standalone Containerfile 构建成功，runtime /readyz 返回 ok。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180">
                <a:solidFill>
                  <a:srgbClr val="252525"/>
                </a:solidFill>
                <a:latin typeface="Microsoft YaHei"/>
              </a:rPr>
              <a:t>• 自研有效代码 1,845 行；vendor 仅包含 gorilla/websocket v1.5.3。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806440"/>
            <a:ext cx="10735056" cy="384048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888736"/>
            <a:ext cx="10296144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结论：POC 主路径已闭环；验证覆盖生命周期、路由、持久化、重试、恢复和镜像交付。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" cy="6858000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329184"/>
            <a:ext cx="566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" y="228600"/>
            <a:ext cx="1014984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52525"/>
                </a:solidFill>
                <a:latin typeface="Microsoft YaHei"/>
              </a:rPr>
              <a:t>生产化路线与建议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777240"/>
            <a:ext cx="1005840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66666"/>
                </a:solidFill>
                <a:latin typeface="Microsoft YaHei"/>
              </a:rPr>
              <a:t>在现有 POC 契约上逐步补齐安全、高可用、连接治理和完整 Agent 协议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93776" y="1170432"/>
            <a:ext cx="11192256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12064" y="6510528"/>
            <a:ext cx="3657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A8A8A"/>
                </a:solidFill>
                <a:latin typeface="Microsoft YaHei"/>
              </a:rPr>
              <a:t>ORA Agent Substrate Sandbox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8309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26464"/>
            <a:ext cx="1993392" cy="822960"/>
          </a:xfrm>
          <a:prstGeom prst="roundRect">
            <a:avLst>
              <a:gd name="adj" fmla="val 8000"/>
            </a:avLst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664208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P0 · 联调基线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1488" y="1426464"/>
            <a:ext cx="8503920" cy="8229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591056"/>
            <a:ext cx="8028431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252525"/>
                </a:solidFill>
                <a:latin typeface="Microsoft YaHei"/>
              </a:rPr>
              <a:t>冻结 Effects 与 Node v1 契约；完成容量、失败注入和恢复演练；建立镜像 digest 与模板版本管理。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542032"/>
            <a:ext cx="1993392" cy="822960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79776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P1 · 安全加固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2542032"/>
            <a:ext cx="8503920" cy="8229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706624"/>
            <a:ext cx="8028431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252525"/>
                </a:solidFill>
                <a:latin typeface="Microsoft YaHei"/>
              </a:rPr>
              <a:t>为 18001/18002 增加 TLS、工作负载身份和 Project/Workspace 授权；secret 不进入日志、模板或 journal。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993392" cy="822960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895344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P2 · 高可用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61488" y="3657600"/>
            <a:ext cx="8503920" cy="8229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99232" y="3822191"/>
            <a:ext cx="8028431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252525"/>
                </a:solidFill>
                <a:latin typeface="Microsoft YaHei"/>
              </a:rPr>
              <a:t>以 ate-api gRPC client 代替 kubectl-ate；journal 迁移到 PostgreSQL；增加 Workspace 锁、fencing 和迁移方案。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73168"/>
            <a:ext cx="1993392" cy="822960"/>
          </a:xfrm>
          <a:prstGeom prst="roundRect">
            <a:avLst>
              <a:gd name="adj" fmla="val 8000"/>
            </a:avLst>
          </a:prstGeom>
          <a:solidFill>
            <a:srgbClr val="252525"/>
          </a:solidFill>
          <a:ln>
            <a:solidFill>
              <a:srgbClr val="2525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010912"/>
            <a:ext cx="17007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P3 · 协议完善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4773168"/>
            <a:ext cx="8503920" cy="82296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solidFill>
              <a:srgbClr val="F4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99232" y="4937760"/>
            <a:ext cx="8028431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10" b="0">
                <a:solidFill>
                  <a:srgbClr val="252525"/>
                </a:solidFill>
                <a:latin typeface="Microsoft YaHei"/>
              </a:rPr>
              <a:t>补齐 Agent 执行、审批、取消、成果保存、bundle 重试；router 增加配额、超时、主动 ping 与观测指标。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5989320"/>
            <a:ext cx="10698480" cy="18288"/>
          </a:xfrm>
          <a:prstGeom prst="rect">
            <a:avLst/>
          </a:prstGeom>
          <a:solidFill>
            <a:srgbClr val="C7000B"/>
          </a:solidFill>
          <a:ln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144768"/>
            <a:ext cx="104973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建议决策：以当前仓库作为沙盒适配唯一代码基线，先完成受控单集群联调，再进入生产化改造。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 Agent Substrate Sandbox 项目介绍</dc:title>
  <dc:subject>架构、生命周期、部署、验证与生产化路线</dc:subject>
  <dc:creator>ORA Sandbox Project</dc:creator>
  <cp:keywords>ORA, Agent Substrate, Sandbox, gVisor, WebSocket</cp:keywords>
  <dc:description>Huawei-inspired red, white and gray flat enterprise presentation.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